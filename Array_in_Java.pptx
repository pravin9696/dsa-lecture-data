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C1FE0D-2AE0-4969-B985-AE20C61BC979}" type="datetimeFigureOut">
              <a:rPr lang="en-IN" smtClean="0"/>
              <a:t>23.10.26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E40A88-854D-4F0C-B03D-9364D6297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659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40A88-854D-4F0C-B03D-9364D629780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0321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40A88-854D-4F0C-B03D-9364D629780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5146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40A88-854D-4F0C-B03D-9364D629780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85382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40A88-854D-4F0C-B03D-9364D629780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292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40A88-854D-4F0C-B03D-9364D629780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3165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40A88-854D-4F0C-B03D-9364D629780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5947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40A88-854D-4F0C-B03D-9364D6297802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1444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40A88-854D-4F0C-B03D-9364D629780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6715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40A88-854D-4F0C-B03D-9364D6297802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746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40A88-854D-4F0C-B03D-9364D6297802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5376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40A88-854D-4F0C-B03D-9364D6297802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64119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40A88-854D-4F0C-B03D-9364D6297802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2926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40A88-854D-4F0C-B03D-9364D6297802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14471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40A88-854D-4F0C-B03D-9364D6297802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9403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40A88-854D-4F0C-B03D-9364D6297802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4661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40A88-854D-4F0C-B03D-9364D6297802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1620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40A88-854D-4F0C-B03D-9364D6297802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7850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949440" y="2103120"/>
            <a:ext cx="694944" cy="658368"/>
          </a:xfrm>
          <a:prstGeom prst="roundRect">
            <a:avLst/>
          </a:prstGeom>
          <a:solidFill>
            <a:srgbClr val="1F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49440" y="2212848"/>
            <a:ext cx="694944" cy="32004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2852928"/>
            <a:ext cx="694944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BED7F0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54112" y="2103120"/>
            <a:ext cx="694944" cy="658368"/>
          </a:xfrm>
          <a:prstGeom prst="round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54112" y="2212848"/>
            <a:ext cx="694944" cy="32004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54112" y="2852928"/>
            <a:ext cx="694944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BED7F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58784" y="2103120"/>
            <a:ext cx="694944" cy="658368"/>
          </a:xfrm>
          <a:prstGeom prst="roundRect">
            <a:avLst/>
          </a:prstGeom>
          <a:solidFill>
            <a:srgbClr val="FF9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58784" y="2212848"/>
            <a:ext cx="694944" cy="32004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58784" y="2852928"/>
            <a:ext cx="694944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BED7F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63456" y="2103120"/>
            <a:ext cx="694944" cy="658368"/>
          </a:xfrm>
          <a:prstGeom prst="roundRect">
            <a:avLst/>
          </a:prstGeom>
          <a:solidFill>
            <a:srgbClr val="1F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63456" y="2212848"/>
            <a:ext cx="694944" cy="32004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63456" y="2852928"/>
            <a:ext cx="694944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BED7F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68128" y="2103120"/>
            <a:ext cx="694944" cy="658368"/>
          </a:xfrm>
          <a:prstGeom prst="round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168128" y="2212848"/>
            <a:ext cx="694944" cy="32004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68128" y="2852928"/>
            <a:ext cx="694944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BED7F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3657600"/>
            <a:ext cx="621792" cy="41148"/>
          </a:xfrm>
          <a:prstGeom prst="rect">
            <a:avLst/>
          </a:prstGeom>
          <a:solidFill>
            <a:srgbClr val="27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99832" y="3657600"/>
            <a:ext cx="621792" cy="41148"/>
          </a:xfrm>
          <a:prstGeom prst="rect">
            <a:avLst/>
          </a:prstGeom>
          <a:solidFill>
            <a:srgbClr val="27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604504" y="3657600"/>
            <a:ext cx="621792" cy="41148"/>
          </a:xfrm>
          <a:prstGeom prst="rect">
            <a:avLst/>
          </a:prstGeom>
          <a:solidFill>
            <a:srgbClr val="27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409176" y="3657600"/>
            <a:ext cx="621792" cy="41148"/>
          </a:xfrm>
          <a:prstGeom prst="rect">
            <a:avLst/>
          </a:prstGeom>
          <a:solidFill>
            <a:srgbClr val="27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213848" y="3657600"/>
            <a:ext cx="621792" cy="41148"/>
          </a:xfrm>
          <a:prstGeom prst="rect">
            <a:avLst/>
          </a:prstGeom>
          <a:solidFill>
            <a:srgbClr val="27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658368"/>
            <a:ext cx="521208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28BED2"/>
                </a:solidFill>
                <a:latin typeface="Aptos"/>
              </a:defRPr>
            </a:pPr>
            <a:r>
              <a:t>JAVA PROGRAMMING  •  DATA STRUCTURES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1417320"/>
            <a:ext cx="5943600" cy="11887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ARRAYS IN JAVA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2743200"/>
            <a:ext cx="5212080" cy="9144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DAE8F7"/>
                </a:solidFill>
                <a:latin typeface="Aptos"/>
              </a:defRPr>
            </a:pPr>
            <a:r>
              <a:t>Concepts • Syntax • Examples</a:t>
            </a:r>
          </a:p>
          <a:p>
            <a:pPr algn="l">
              <a:spcAft>
                <a:spcPts val="500"/>
              </a:spcAft>
              <a:defRPr sz="1900" b="0">
                <a:solidFill>
                  <a:srgbClr val="DAE8F7"/>
                </a:solidFill>
                <a:latin typeface="Aptos"/>
              </a:defRPr>
            </a:pPr>
            <a:r>
              <a:t>Explanations • Practical Questions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JAVA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Learning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27048"/>
            <a:ext cx="594360" cy="3657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F6FB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490472"/>
            <a:ext cx="2468880" cy="4114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Define an array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508760"/>
            <a:ext cx="6858000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33142"/>
                </a:solidFill>
                <a:latin typeface="Aptos"/>
              </a:defRPr>
            </a:pPr>
            <a:r>
              <a:t>Explain why arrays are useful.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395728"/>
            <a:ext cx="594360" cy="3657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F6F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359152"/>
            <a:ext cx="2468880" cy="4114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Write array syntax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377440"/>
            <a:ext cx="6858000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33142"/>
                </a:solidFill>
                <a:latin typeface="Aptos"/>
              </a:defRPr>
            </a:pPr>
            <a:r>
              <a:t>Declare, create, and initialize arrays.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5468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264408"/>
            <a:ext cx="594360" cy="3657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F6F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227832"/>
            <a:ext cx="2468880" cy="4114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Access elements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3246120"/>
            <a:ext cx="6858000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33142"/>
                </a:solidFill>
                <a:latin typeface="Aptos"/>
              </a:defRPr>
            </a:pPr>
            <a:r>
              <a:t>Use indexes and the length property.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23359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133087"/>
            <a:ext cx="594360" cy="3657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F6FB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096511"/>
            <a:ext cx="2468880" cy="4114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Process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4114799"/>
            <a:ext cx="6858000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33142"/>
                </a:solidFill>
                <a:latin typeface="Aptos"/>
              </a:defRPr>
            </a:pPr>
            <a:r>
              <a:t>Use loops to calculate results.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89204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001768"/>
            <a:ext cx="594360" cy="3657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F6FB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965192"/>
            <a:ext cx="2468880" cy="4114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Solve problems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4983479"/>
            <a:ext cx="6858000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33142"/>
                </a:solidFill>
                <a:latin typeface="Aptos"/>
              </a:defRPr>
            </a:pPr>
            <a:r>
              <a:t>Find sums, maximums, and reverse values.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576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JAVA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1. What is an array?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4846320" cy="137160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90472"/>
            <a:ext cx="45720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F6FBE"/>
                </a:solidFill>
                <a:latin typeface="Aptos"/>
              </a:defRPr>
            </a:pPr>
            <a:r>
              <a:t>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3519874" cy="876137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rPr dirty="0"/>
              <a:t>An array is an object that stores a fixed number </a:t>
            </a:r>
            <a:endParaRPr lang="en-US" dirty="0"/>
          </a:p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rPr dirty="0"/>
              <a:t>of values of the same declared type. </a:t>
            </a:r>
            <a:endParaRPr lang="en-US" dirty="0"/>
          </a:p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rPr dirty="0"/>
              <a:t>Each value is accessed using an index.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4480560" cy="3657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33142"/>
                </a:solidFill>
                <a:latin typeface="Aptos"/>
              </a:defRPr>
            </a:pPr>
            <a:r>
              <a:t>Think of numbered boxes storing related values.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657600"/>
            <a:ext cx="777240" cy="530352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694176"/>
            <a:ext cx="777240" cy="48463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24528"/>
            <a:ext cx="777240" cy="22860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5A6D82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55064" y="3657600"/>
            <a:ext cx="777240" cy="530352"/>
          </a:xfrm>
          <a:prstGeom prst="roundRect">
            <a:avLst/>
          </a:prstGeom>
          <a:solidFill>
            <a:srgbClr val="DEF0FF"/>
          </a:solidFill>
          <a:ln w="12700"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55064" y="3694176"/>
            <a:ext cx="777240" cy="48463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" y="4224528"/>
            <a:ext cx="777240" cy="22860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5A6D8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87168" y="3657600"/>
            <a:ext cx="777240" cy="530352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87168" y="3694176"/>
            <a:ext cx="777240" cy="48463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87168" y="4224528"/>
            <a:ext cx="777240" cy="22860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5A6D8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19271" y="3657600"/>
            <a:ext cx="777240" cy="530352"/>
          </a:xfrm>
          <a:prstGeom prst="roundRect">
            <a:avLst/>
          </a:prstGeom>
          <a:solidFill>
            <a:srgbClr val="DEF0FF"/>
          </a:solidFill>
          <a:ln w="12700"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19271" y="3694176"/>
            <a:ext cx="777240" cy="48463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1" y="4224528"/>
            <a:ext cx="777240" cy="22860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5A6D8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51376" y="3657600"/>
            <a:ext cx="777240" cy="530352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51376" y="3694176"/>
            <a:ext cx="777240" cy="48463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51376" y="4224528"/>
            <a:ext cx="777240" cy="22860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5A6D8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0" y="1417320"/>
            <a:ext cx="5394960" cy="114300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89320" y="1490472"/>
            <a:ext cx="512064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29B6F"/>
                </a:solidFill>
                <a:latin typeface="Aptos"/>
              </a:defRPr>
            </a:pPr>
            <a:r>
              <a:t>WHY USE AN ARRAY?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1737360"/>
            <a:ext cx="3845733" cy="61196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rPr dirty="0"/>
              <a:t>Store many related values under one variable name </a:t>
            </a:r>
            <a:endParaRPr lang="en-US" dirty="0"/>
          </a:p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rPr dirty="0"/>
              <a:t>and process them efficiently with loops.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52160" y="2788920"/>
            <a:ext cx="5394960" cy="114300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89320" y="2862072"/>
            <a:ext cx="512064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FF9740"/>
                </a:solidFill>
                <a:latin typeface="Aptos"/>
              </a:defRPr>
            </a:pPr>
            <a:r>
              <a:t>IMPORTANT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3108960"/>
            <a:ext cx="5120640" cy="75895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An array's length is fixed after it is created. Indexing begins at 0.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52160" y="4160520"/>
            <a:ext cx="5394960" cy="105156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89320" y="4233672"/>
            <a:ext cx="512064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F6FBE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4480559"/>
            <a:ext cx="5120640" cy="66751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Instead of marks1, marks2, marks3, use int[] marks.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rPr dirty="0"/>
              <a:t>JAVA PROGRAMMING  •  ARRAYS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PRACTICE AFTER THIS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Practice 1 — Understand arrays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66294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603504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YOUR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6082114" cy="1291636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0C2342"/>
                </a:solidFill>
                <a:latin typeface="Aptos"/>
              </a:defRPr>
            </a:pPr>
            <a:r>
              <a:rPr dirty="0"/>
              <a:t>A teacher needs to store marks for 5 students. </a:t>
            </a:r>
            <a:endParaRPr lang="en-US" dirty="0"/>
          </a:p>
          <a:p>
            <a:pPr algn="l">
              <a:spcAft>
                <a:spcPts val="500"/>
              </a:spcAft>
              <a:defRPr sz="2200" b="1">
                <a:solidFill>
                  <a:srgbClr val="0C2342"/>
                </a:solidFill>
                <a:latin typeface="Aptos"/>
              </a:defRPr>
            </a:pPr>
            <a:endParaRPr lang="en-IN" dirty="0"/>
          </a:p>
          <a:p>
            <a:pPr algn="l">
              <a:spcAft>
                <a:spcPts val="500"/>
              </a:spcAft>
              <a:defRPr sz="2200" b="1">
                <a:solidFill>
                  <a:srgbClr val="0C2342"/>
                </a:solidFill>
                <a:latin typeface="Aptos"/>
              </a:defRPr>
            </a:pPr>
            <a:r>
              <a:rPr dirty="0"/>
              <a:t> why an array is suitable</a:t>
            </a:r>
            <a:r>
              <a:rPr lang="en-IN" dirty="0"/>
              <a:t>?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868680" y="3520440"/>
            <a:ext cx="5989320" cy="141732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39" y="3593592"/>
            <a:ext cx="57150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29B6F"/>
                </a:solidFill>
                <a:latin typeface="Aptos"/>
              </a:defRPr>
            </a:pPr>
            <a:r>
              <a:t>HINT /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39" y="3840480"/>
            <a:ext cx="3756349" cy="61196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rPr dirty="0"/>
              <a:t>Use one int array with five elements. </a:t>
            </a:r>
            <a:endParaRPr lang="en-US" dirty="0"/>
          </a:p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rPr dirty="0"/>
              <a:t>Mention same data type, indexes, and fixed length.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417320"/>
            <a:ext cx="4514850" cy="443484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1737360"/>
            <a:ext cx="333756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TEST YOUR UNDERSTANDING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240280"/>
            <a:ext cx="3246120" cy="25603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int[] marks = {75, 80, 65, 90, 85};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288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JAVA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2. Declare an array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5577840" cy="1828800"/>
          </a:xfrm>
          <a:prstGeom prst="roundRect">
            <a:avLst/>
          </a:prstGeom>
          <a:solidFill>
            <a:srgbClr val="111F31"/>
          </a:solidFill>
          <a:ln w="12700">
            <a:solidFill>
              <a:srgbClr val="11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72768"/>
            <a:ext cx="53035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28BED2"/>
                </a:solidFill>
                <a:latin typeface="Aptos"/>
              </a:defRPr>
            </a:pPr>
            <a:r>
              <a:t>JAVA  /  CODE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47088"/>
            <a:ext cx="5303520" cy="1371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FFFFFF"/>
                </a:solidFill>
                <a:latin typeface="Consolas"/>
              </a:defRPr>
            </a:pPr>
            <a:r>
              <a:t>int[] numbers;</a:t>
            </a:r>
          </a:p>
          <a:p>
            <a:pPr algn="l">
              <a:spcAft>
                <a:spcPts val="500"/>
              </a:spcAft>
              <a:defRPr sz="1900" b="0">
                <a:solidFill>
                  <a:srgbClr val="FFFFFF"/>
                </a:solidFill>
                <a:latin typeface="Consolas"/>
              </a:defRPr>
            </a:pPr>
            <a:r>
              <a:t>// or</a:t>
            </a:r>
          </a:p>
          <a:p>
            <a:pPr algn="l">
              <a:spcAft>
                <a:spcPts val="500"/>
              </a:spcAft>
              <a:defRPr sz="1900" b="0">
                <a:solidFill>
                  <a:srgbClr val="FFFFFF"/>
                </a:solidFill>
                <a:latin typeface="Consolas"/>
              </a:defRPr>
            </a:pPr>
            <a:r>
              <a:t>int numbers[];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1463040"/>
            <a:ext cx="4572000" cy="150876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0" y="1536192"/>
            <a:ext cx="429768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F6FBE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783080"/>
            <a:ext cx="4375493" cy="6427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rPr sz="1400" dirty="0"/>
              <a:t>This declares a variable named numbers that can refer </a:t>
            </a:r>
            <a:endParaRPr lang="en-US" sz="1400" dirty="0"/>
          </a:p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rPr sz="1400" dirty="0"/>
              <a:t>to an integer array. No array storage is created yet.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657600"/>
            <a:ext cx="10515600" cy="100584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730752"/>
            <a:ext cx="1024128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29B6F"/>
                </a:solidFill>
                <a:latin typeface="Aptos"/>
              </a:defRPr>
            </a:pPr>
            <a:r>
              <a:t>SYNTAX PATTERN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77639"/>
            <a:ext cx="10241280" cy="62179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dataType[] arrayName;  —  Use the data type of the values you plan to store.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PRACTICE AFTER THIS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Practice 2 — Declare an array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66294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603504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YOUR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5989320" cy="10515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0C2342"/>
                </a:solidFill>
                <a:latin typeface="Aptos"/>
              </a:defRPr>
            </a:pPr>
            <a:r>
              <a:t>Write declarations for an array of 10 integers and an array of 6 decimal values.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520440"/>
            <a:ext cx="5989320" cy="141732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39" y="3593592"/>
            <a:ext cx="57150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29B6F"/>
                </a:solidFill>
                <a:latin typeface="Aptos"/>
              </a:defRPr>
            </a:pPr>
            <a:r>
              <a:t>HINT /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39" y="3840480"/>
            <a:ext cx="5715000" cy="103327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Use int[] for whole numbers and double[] for decimal values.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417320"/>
            <a:ext cx="3977639" cy="443484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1737360"/>
            <a:ext cx="333756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TEST YOUR UNDERSTANDING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240280"/>
            <a:ext cx="3246120" cy="25603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int[] scores;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double[] prices;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288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JAVA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3. Create an array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5577840" cy="1828800"/>
          </a:xfrm>
          <a:prstGeom prst="roundRect">
            <a:avLst/>
          </a:prstGeom>
          <a:solidFill>
            <a:srgbClr val="111F31"/>
          </a:solidFill>
          <a:ln w="12700">
            <a:solidFill>
              <a:srgbClr val="11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72768"/>
            <a:ext cx="53035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28BED2"/>
                </a:solidFill>
                <a:latin typeface="Aptos"/>
              </a:defRPr>
            </a:pPr>
            <a:r>
              <a:t>JAVA  /  CODE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47088"/>
            <a:ext cx="5303520" cy="1371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numbers = new int[5];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 algn="l">
              <a:spcAft>
                <a:spcPts val="50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// Declaration + creation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int[] numbers = new int[5];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1463040"/>
            <a:ext cx="4937760" cy="150876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0" y="1536192"/>
            <a:ext cx="429768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F6FBE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783080"/>
            <a:ext cx="4680448" cy="61196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rPr dirty="0"/>
              <a:t>The new keyword creates an array with space for five int values. </a:t>
            </a:r>
            <a:endParaRPr lang="en-US" dirty="0"/>
          </a:p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rPr dirty="0"/>
              <a:t>Each element initially contains 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977639"/>
            <a:ext cx="822960" cy="530352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014215"/>
            <a:ext cx="822960" cy="48463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44568"/>
            <a:ext cx="822960" cy="22860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5A6D82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92224" y="3977639"/>
            <a:ext cx="822960" cy="530352"/>
          </a:xfrm>
          <a:prstGeom prst="roundRect">
            <a:avLst/>
          </a:prstGeom>
          <a:solidFill>
            <a:srgbClr val="DEF0FF"/>
          </a:solidFill>
          <a:ln w="12700"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792224" y="4014215"/>
            <a:ext cx="822960" cy="48463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92224" y="4544568"/>
            <a:ext cx="822960" cy="22860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5A6D8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70048" y="3977639"/>
            <a:ext cx="822960" cy="530352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70048" y="4014215"/>
            <a:ext cx="822960" cy="48463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0048" y="4544568"/>
            <a:ext cx="822960" cy="22860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5A6D8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47872" y="3977639"/>
            <a:ext cx="822960" cy="530352"/>
          </a:xfrm>
          <a:prstGeom prst="roundRect">
            <a:avLst/>
          </a:prstGeom>
          <a:solidFill>
            <a:srgbClr val="DEF0FF"/>
          </a:solidFill>
          <a:ln w="12700"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47872" y="4014215"/>
            <a:ext cx="822960" cy="48463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4544568"/>
            <a:ext cx="822960" cy="22860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5A6D8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25696" y="3977639"/>
            <a:ext cx="822960" cy="530352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25696" y="4014215"/>
            <a:ext cx="822960" cy="48463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5696" y="4544568"/>
            <a:ext cx="822960" cy="22860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5A6D8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PRACTICE AFTER THIS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Practice 3 — Create an array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66294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603504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YOUR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5989320" cy="10515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0C2342"/>
                </a:solidFill>
                <a:latin typeface="Aptos"/>
              </a:defRPr>
            </a:pPr>
            <a:r>
              <a:t>Create an array that can store 8 student names.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520440"/>
            <a:ext cx="5989320" cy="141732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39" y="3593592"/>
            <a:ext cx="57150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29B6F"/>
                </a:solidFill>
                <a:latin typeface="Aptos"/>
              </a:defRPr>
            </a:pPr>
            <a:r>
              <a:t>HINT /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39" y="3840480"/>
            <a:ext cx="5715000" cy="103327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Use String as the data type and new String[8] to create the array.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417320"/>
            <a:ext cx="3977639" cy="443484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1737360"/>
            <a:ext cx="333756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TEST YOUR UNDERSTANDING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240280"/>
            <a:ext cx="3246120" cy="25603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String[] names = new String[8];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288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JAVA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4. Initialize an array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5852160" cy="1828800"/>
          </a:xfrm>
          <a:prstGeom prst="roundRect">
            <a:avLst/>
          </a:prstGeom>
          <a:solidFill>
            <a:srgbClr val="111F31"/>
          </a:solidFill>
          <a:ln w="12700">
            <a:solidFill>
              <a:srgbClr val="11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72768"/>
            <a:ext cx="557784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28BED2"/>
                </a:solidFill>
                <a:latin typeface="Aptos"/>
              </a:defRPr>
            </a:pPr>
            <a:r>
              <a:t>JAVA  /  CODE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47088"/>
            <a:ext cx="5577840" cy="1371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int[] numbers = {10, 20, 30, 40, 50};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String[] fruits = {"Apple", "Mango", "Banana"};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1463039"/>
            <a:ext cx="4709160" cy="1554481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0" y="1536192"/>
            <a:ext cx="41148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F6FBE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783080"/>
            <a:ext cx="4480778" cy="61196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rPr dirty="0"/>
              <a:t>Initialization assigns starting values to array elements. J</a:t>
            </a:r>
            <a:endParaRPr lang="en-US" dirty="0"/>
          </a:p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rPr lang="en-IN" dirty="0"/>
              <a:t>J</a:t>
            </a:r>
            <a:r>
              <a:rPr dirty="0"/>
              <a:t>ava infers the array length from the values inside the braces.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977639"/>
            <a:ext cx="822960" cy="530352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014215"/>
            <a:ext cx="822960" cy="48463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44568"/>
            <a:ext cx="822960" cy="22860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5A6D82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92224" y="3977639"/>
            <a:ext cx="822960" cy="530352"/>
          </a:xfrm>
          <a:prstGeom prst="roundRect">
            <a:avLst/>
          </a:prstGeom>
          <a:solidFill>
            <a:srgbClr val="DEF0FF"/>
          </a:solidFill>
          <a:ln w="12700"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792224" y="4014215"/>
            <a:ext cx="822960" cy="48463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92224" y="4544568"/>
            <a:ext cx="822960" cy="22860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5A6D8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70048" y="3977639"/>
            <a:ext cx="822960" cy="530352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70048" y="4014215"/>
            <a:ext cx="822960" cy="48463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0048" y="4544568"/>
            <a:ext cx="822960" cy="22860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5A6D8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47872" y="3977639"/>
            <a:ext cx="822960" cy="530352"/>
          </a:xfrm>
          <a:prstGeom prst="roundRect">
            <a:avLst/>
          </a:prstGeom>
          <a:solidFill>
            <a:srgbClr val="DEF0FF"/>
          </a:solidFill>
          <a:ln w="12700"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47872" y="4014215"/>
            <a:ext cx="822960" cy="48463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4544568"/>
            <a:ext cx="822960" cy="22860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5A6D8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25696" y="3977639"/>
            <a:ext cx="822960" cy="530352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25696" y="4014215"/>
            <a:ext cx="822960" cy="48463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5696" y="4544568"/>
            <a:ext cx="822960" cy="22860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5A6D8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PRACTICE AFTER THIS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7208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Practice 4 — Initialize an array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66294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603504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YOUR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5989320" cy="10515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0C2342"/>
                </a:solidFill>
                <a:latin typeface="Aptos"/>
              </a:defRPr>
            </a:pPr>
            <a:r>
              <a:t>Create an int array containing 4, 8, 12, 16, and 20.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520440"/>
            <a:ext cx="5989320" cy="141732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39" y="3593592"/>
            <a:ext cx="57150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29B6F"/>
                </a:solidFill>
                <a:latin typeface="Aptos"/>
              </a:defRPr>
            </a:pPr>
            <a:r>
              <a:t>HINT /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39" y="3840480"/>
            <a:ext cx="5715000" cy="103327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Use an array initializer with values separated by commas.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417320"/>
            <a:ext cx="4386263" cy="443484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1737360"/>
            <a:ext cx="333756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TEST YOUR UNDERSTANDING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240280"/>
            <a:ext cx="3246120" cy="25603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int[] values = {4, 8, 12, 16, 20};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JAVA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5. Access array elements with indexes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05840" cy="530352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82496"/>
            <a:ext cx="1005840" cy="48463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12848"/>
            <a:ext cx="1005840" cy="22860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5A6D82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83664" y="1645920"/>
            <a:ext cx="1005840" cy="530352"/>
          </a:xfrm>
          <a:prstGeom prst="roundRect">
            <a:avLst/>
          </a:prstGeom>
          <a:solidFill>
            <a:srgbClr val="DEF0FF"/>
          </a:solidFill>
          <a:ln w="12700"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3664" y="1682496"/>
            <a:ext cx="1005840" cy="48463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3664" y="2212848"/>
            <a:ext cx="1005840" cy="22860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5A6D8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4368" y="1645920"/>
            <a:ext cx="1005840" cy="530352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44368" y="1682496"/>
            <a:ext cx="1005840" cy="48463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2212848"/>
            <a:ext cx="1005840" cy="22860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5A6D8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05072" y="1645920"/>
            <a:ext cx="1005840" cy="530352"/>
          </a:xfrm>
          <a:prstGeom prst="roundRect">
            <a:avLst/>
          </a:prstGeom>
          <a:solidFill>
            <a:srgbClr val="DEF0FF"/>
          </a:solidFill>
          <a:ln w="12700"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05072" y="1682496"/>
            <a:ext cx="1005840" cy="48463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5072" y="2212848"/>
            <a:ext cx="1005840" cy="22860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5A6D8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65776" y="1645920"/>
            <a:ext cx="1005840" cy="530352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65776" y="1682496"/>
            <a:ext cx="1005840" cy="48463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5776" y="2212848"/>
            <a:ext cx="1005840" cy="22860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5A6D8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154680"/>
            <a:ext cx="5212080" cy="1508760"/>
          </a:xfrm>
          <a:prstGeom prst="roundRect">
            <a:avLst/>
          </a:prstGeom>
          <a:solidFill>
            <a:srgbClr val="111F31"/>
          </a:solidFill>
          <a:ln w="12700">
            <a:solidFill>
              <a:srgbClr val="11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3264408"/>
            <a:ext cx="493776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28BED2"/>
                </a:solidFill>
                <a:latin typeface="Aptos"/>
              </a:defRPr>
            </a:pPr>
            <a:r>
              <a:t>JAVA  /  CODE EXAMPLE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538728"/>
            <a:ext cx="4937760" cy="10515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System.out.println(marks[0]); // 75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System.out.println(marks[3]); // 90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154680"/>
            <a:ext cx="4663440" cy="150876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60" y="3227832"/>
            <a:ext cx="438912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F6FBE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474720"/>
            <a:ext cx="4146904" cy="61196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rPr dirty="0"/>
              <a:t>marks[0] reads the first value. marks[3] reads the fourth </a:t>
            </a:r>
            <a:endParaRPr lang="en-US" dirty="0"/>
          </a:p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rPr dirty="0"/>
              <a:t>value because indexes start at zero.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074920"/>
            <a:ext cx="10241280" cy="68580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5148072"/>
            <a:ext cx="9966959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CD4B4B"/>
                </a:solidFill>
                <a:latin typeface="Aptos"/>
              </a:defRPr>
            </a:pPr>
            <a:r>
              <a:t>COMMON ERROR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394959"/>
            <a:ext cx="9966959" cy="30175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For an array of length 5, valid indexes are 0 through 4. marks[5] causes ArrayIndexOutOfBoundsException.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PRACTICE AFTER THIS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Practice 5 — Indexing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66294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603504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YOUR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5989320" cy="10515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0C2342"/>
                </a:solidFill>
                <a:latin typeface="Aptos"/>
              </a:defRPr>
            </a:pPr>
            <a:r>
              <a:t>Given int[] a = {12, 24, 36, 48, 60}, what are a[0], a[2], and a[4]?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520440"/>
            <a:ext cx="5989320" cy="141732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39" y="3593592"/>
            <a:ext cx="57150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29B6F"/>
                </a:solidFill>
                <a:latin typeface="Aptos"/>
              </a:defRPr>
            </a:pPr>
            <a:r>
              <a:t>HINT /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39" y="3840480"/>
            <a:ext cx="5715000" cy="103327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Count indexes from zero, not from 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417320"/>
            <a:ext cx="3977639" cy="443484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1737360"/>
            <a:ext cx="333756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TEST YOUR UNDERSTANDING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240280"/>
            <a:ext cx="3246120" cy="25603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a[0] = 12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a[2] = 36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a[4] = 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JAVA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6. Access all elements using a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6766560" cy="2971800"/>
          </a:xfrm>
          <a:prstGeom prst="roundRect">
            <a:avLst/>
          </a:prstGeom>
          <a:solidFill>
            <a:srgbClr val="111F31"/>
          </a:solidFill>
          <a:ln w="12700">
            <a:solidFill>
              <a:srgbClr val="11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27048"/>
            <a:ext cx="649224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28BED2"/>
                </a:solidFill>
                <a:latin typeface="Aptos"/>
              </a:defRPr>
            </a:pPr>
            <a:r>
              <a:t>JAVA  /  CODE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01368"/>
            <a:ext cx="6492240" cy="2514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int[] numbers = {10, 20, 30, 40, 50};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for (int i = 0; i &lt; numbers.length; i++) {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    System.out.println(numbers[i]);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417320"/>
            <a:ext cx="3566160" cy="123444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0" y="1490472"/>
            <a:ext cx="329184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F6FBE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737360"/>
            <a:ext cx="2567754" cy="61196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rPr dirty="0"/>
              <a:t>i starts at 0, increases by 1, </a:t>
            </a:r>
            <a:endParaRPr lang="en-US" dirty="0"/>
          </a:p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rPr dirty="0"/>
              <a:t>and stops before i reaches length.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2880360"/>
            <a:ext cx="3566160" cy="123444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2953512"/>
            <a:ext cx="329184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29B6F"/>
                </a:solidFill>
                <a:latin typeface="Aptos"/>
              </a:defRPr>
            </a:pPr>
            <a:r>
              <a:t>WHY LENGTH?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200400"/>
            <a:ext cx="2879443" cy="61196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rPr dirty="0" err="1"/>
              <a:t>numbers.length</a:t>
            </a:r>
            <a:r>
              <a:rPr dirty="0"/>
              <a:t> returns the number of</a:t>
            </a:r>
            <a:endParaRPr lang="en-US" dirty="0"/>
          </a:p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rPr dirty="0"/>
              <a:t> elements in the array.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54880"/>
            <a:ext cx="1828800" cy="2743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F6FBE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074920"/>
            <a:ext cx="2743200" cy="9144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33142"/>
                </a:solidFill>
                <a:latin typeface="Consolas"/>
              </a:defRPr>
            </a:pPr>
            <a:r>
              <a:t>10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33142"/>
                </a:solidFill>
                <a:latin typeface="Consolas"/>
              </a:defRPr>
            </a:pPr>
            <a:r>
              <a:t>20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33142"/>
                </a:solidFill>
                <a:latin typeface="Consolas"/>
              </a:defRPr>
            </a:pPr>
            <a:r>
              <a:t>30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33142"/>
                </a:solidFill>
                <a:latin typeface="Consolas"/>
              </a:defRPr>
            </a:pPr>
            <a:r>
              <a:t>40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33142"/>
                </a:solidFill>
                <a:latin typeface="Consolas"/>
              </a:defRPr>
            </a:pPr>
            <a:r>
              <a:t>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PRACTICE AFTER THIS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Practice 6 — Loop through an array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66294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603504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YOUR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4913781" cy="88896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0C2342"/>
                </a:solidFill>
                <a:latin typeface="Aptos"/>
              </a:defRPr>
            </a:pPr>
            <a:r>
              <a:rPr dirty="0"/>
              <a:t>Write a loop to print every element in </a:t>
            </a:r>
            <a:endParaRPr lang="en-US" dirty="0"/>
          </a:p>
          <a:p>
            <a:pPr algn="l">
              <a:spcAft>
                <a:spcPts val="500"/>
              </a:spcAft>
              <a:defRPr sz="2200" b="1">
                <a:solidFill>
                  <a:srgbClr val="0C2342"/>
                </a:solidFill>
                <a:latin typeface="Aptos"/>
              </a:defRPr>
            </a:pPr>
            <a:r>
              <a:rPr dirty="0"/>
              <a:t>int[] values = {3, 6, 9, 12}.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520440"/>
            <a:ext cx="5989320" cy="141732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39" y="3593592"/>
            <a:ext cx="57150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29B6F"/>
                </a:solidFill>
                <a:latin typeface="Aptos"/>
              </a:defRPr>
            </a:pPr>
            <a:r>
              <a:t>HINT /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39" y="3840480"/>
            <a:ext cx="5715000" cy="103327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Start i at 0; continue while i &lt; values.length; print values[i].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417320"/>
            <a:ext cx="4414838" cy="443484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1737360"/>
            <a:ext cx="333756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TEST YOUR UNDERSTANDING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265998"/>
            <a:ext cx="4523931" cy="132497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rPr dirty="0"/>
              <a:t>for (int i = 0; i &lt; </a:t>
            </a:r>
            <a:r>
              <a:rPr dirty="0" err="1"/>
              <a:t>values.length</a:t>
            </a:r>
            <a:r>
              <a:rPr dirty="0"/>
              <a:t>; i++)</a:t>
            </a:r>
            <a:endParaRPr lang="en-US" dirty="0"/>
          </a:p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rPr dirty="0"/>
              <a:t> {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rPr dirty="0"/>
              <a:t>    System.out.println(values[i]);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rPr dirty="0"/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JAVA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7. Types of arrays in Java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35204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315468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F6FBE"/>
                </a:solidFill>
                <a:latin typeface="Aptos"/>
              </a:defRPr>
            </a:pPr>
            <a:r>
              <a:t>ONE-DIMENSIONAL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331720"/>
            <a:ext cx="457200" cy="457200"/>
          </a:xfrm>
          <a:prstGeom prst="rect">
            <a:avLst/>
          </a:prstGeom>
          <a:solidFill>
            <a:srgbClr val="EDF6FF"/>
          </a:solidFill>
          <a:ln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536192" y="2331720"/>
            <a:ext cx="457200" cy="457200"/>
          </a:xfrm>
          <a:prstGeom prst="rect">
            <a:avLst/>
          </a:prstGeom>
          <a:solidFill>
            <a:srgbClr val="EDF6FF"/>
          </a:solidFill>
          <a:ln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066543" y="2331720"/>
            <a:ext cx="457200" cy="457200"/>
          </a:xfrm>
          <a:prstGeom prst="rect">
            <a:avLst/>
          </a:prstGeom>
          <a:solidFill>
            <a:srgbClr val="EDF6FF"/>
          </a:solidFill>
          <a:ln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96896" y="2331720"/>
            <a:ext cx="457200" cy="457200"/>
          </a:xfrm>
          <a:prstGeom prst="rect">
            <a:avLst/>
          </a:prstGeom>
          <a:solidFill>
            <a:srgbClr val="EDF6FF"/>
          </a:solidFill>
          <a:ln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127248" y="2331720"/>
            <a:ext cx="457200" cy="457200"/>
          </a:xfrm>
          <a:prstGeom prst="rect">
            <a:avLst/>
          </a:prstGeom>
          <a:solidFill>
            <a:srgbClr val="EDF6FF"/>
          </a:solidFill>
          <a:ln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154680"/>
            <a:ext cx="3063240" cy="5943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A single sequence of elements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94760"/>
            <a:ext cx="3063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0C2342"/>
                </a:solidFill>
                <a:latin typeface="Consolas"/>
              </a:defRPr>
            </a:pPr>
            <a:r>
              <a:t>int[] a = {1, 2, 3};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34840"/>
            <a:ext cx="3063240" cy="4114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5A6D82"/>
                </a:solidFill>
                <a:latin typeface="Aptos"/>
              </a:defRPr>
            </a:pPr>
            <a:r>
              <a:t>Best for a simple list.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1508760"/>
            <a:ext cx="35204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17720" y="1737360"/>
            <a:ext cx="315468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F6FBE"/>
                </a:solidFill>
                <a:latin typeface="Aptos"/>
              </a:defRPr>
            </a:pPr>
            <a:r>
              <a:t>TWO-DIMENSIONAL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9240" y="2194560"/>
            <a:ext cx="438912" cy="384048"/>
          </a:xfrm>
          <a:prstGeom prst="rect">
            <a:avLst/>
          </a:prstGeom>
          <a:solidFill>
            <a:srgbClr val="EDF6FF"/>
          </a:solidFill>
          <a:ln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52160" y="2194560"/>
            <a:ext cx="438912" cy="384048"/>
          </a:xfrm>
          <a:prstGeom prst="rect">
            <a:avLst/>
          </a:prstGeom>
          <a:solidFill>
            <a:srgbClr val="EDF6FF"/>
          </a:solidFill>
          <a:ln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55080" y="2194560"/>
            <a:ext cx="438912" cy="384048"/>
          </a:xfrm>
          <a:prstGeom prst="rect">
            <a:avLst/>
          </a:prstGeom>
          <a:solidFill>
            <a:srgbClr val="EDF6FF"/>
          </a:solidFill>
          <a:ln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49240" y="2651760"/>
            <a:ext cx="438912" cy="384048"/>
          </a:xfrm>
          <a:prstGeom prst="rect">
            <a:avLst/>
          </a:prstGeom>
          <a:solidFill>
            <a:srgbClr val="EDF6FF"/>
          </a:solidFill>
          <a:ln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52160" y="2651760"/>
            <a:ext cx="438912" cy="384048"/>
          </a:xfrm>
          <a:prstGeom prst="rect">
            <a:avLst/>
          </a:prstGeom>
          <a:solidFill>
            <a:srgbClr val="EDF6FF"/>
          </a:solidFill>
          <a:ln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55080" y="2651760"/>
            <a:ext cx="438912" cy="384048"/>
          </a:xfrm>
          <a:prstGeom prst="rect">
            <a:avLst/>
          </a:prstGeom>
          <a:solidFill>
            <a:srgbClr val="EDF6FF"/>
          </a:solidFill>
          <a:ln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349240" y="3108960"/>
            <a:ext cx="438912" cy="384048"/>
          </a:xfrm>
          <a:prstGeom prst="rect">
            <a:avLst/>
          </a:prstGeom>
          <a:solidFill>
            <a:srgbClr val="EDF6FF"/>
          </a:solidFill>
          <a:ln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852160" y="3108960"/>
            <a:ext cx="438912" cy="384048"/>
          </a:xfrm>
          <a:prstGeom prst="rect">
            <a:avLst/>
          </a:prstGeom>
          <a:solidFill>
            <a:srgbClr val="EDF6FF"/>
          </a:solidFill>
          <a:ln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55080" y="3108960"/>
            <a:ext cx="438912" cy="384048"/>
          </a:xfrm>
          <a:prstGeom prst="rect">
            <a:avLst/>
          </a:prstGeom>
          <a:solidFill>
            <a:srgbClr val="EDF6FF"/>
          </a:solidFill>
          <a:ln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63440" y="3154680"/>
            <a:ext cx="3063240" cy="5943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Rows and columns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794760"/>
            <a:ext cx="3063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0C2342"/>
                </a:solidFill>
                <a:latin typeface="Consolas"/>
              </a:defRPr>
            </a:pPr>
            <a:r>
              <a:t>int[][] m = {{1,2},{3,4}};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434840"/>
            <a:ext cx="3063240" cy="4114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5A6D82"/>
                </a:solidFill>
                <a:latin typeface="Aptos"/>
              </a:defRPr>
            </a:pPr>
            <a:r>
              <a:t>Useful for tables or grids.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20" y="1508760"/>
            <a:ext cx="35204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58200" y="1737360"/>
            <a:ext cx="315468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F6FBE"/>
                </a:solidFill>
                <a:latin typeface="Aptos"/>
              </a:defRPr>
            </a:pPr>
            <a:r>
              <a:t>MULTIDIMENSIONAL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2240280"/>
            <a:ext cx="2103120" cy="7315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1F6FBE"/>
                </a:solidFill>
                <a:latin typeface="Aptos"/>
              </a:defRPr>
            </a:pPr>
            <a:r>
              <a:t>▦  ▦  ▦</a:t>
            </a:r>
          </a:p>
          <a:p>
            <a:pPr algn="ctr">
              <a:spcAft>
                <a:spcPts val="500"/>
              </a:spcAft>
              <a:defRPr sz="2400" b="1">
                <a:solidFill>
                  <a:srgbClr val="1F6FBE"/>
                </a:solidFill>
                <a:latin typeface="Aptos"/>
              </a:defRPr>
            </a:pPr>
            <a:r>
              <a:t>▦  ▦  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3154680"/>
            <a:ext cx="3063240" cy="5943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Three or more dimensions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794760"/>
            <a:ext cx="3063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0C2342"/>
                </a:solidFill>
                <a:latin typeface="Consolas"/>
              </a:defRPr>
            </a:pPr>
            <a:r>
              <a:t>int[][][] cube = new int[2][3][4];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434840"/>
            <a:ext cx="3063240" cy="4114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5A6D82"/>
                </a:solidFill>
                <a:latin typeface="Aptos"/>
              </a:defRPr>
            </a:pPr>
            <a:r>
              <a:t>Used for layered data.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PRACTICE AFTER THIS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Practice 7 — Choose an array 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66294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603504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YOUR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0230" y="1634677"/>
            <a:ext cx="4660763" cy="169431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0C2342"/>
                </a:solidFill>
                <a:latin typeface="Aptos"/>
              </a:defRPr>
            </a:pPr>
            <a:r>
              <a:rPr dirty="0"/>
              <a:t>Which array type would you use for </a:t>
            </a:r>
            <a:endParaRPr lang="en-US" dirty="0"/>
          </a:p>
          <a:p>
            <a:pPr algn="l">
              <a:spcAft>
                <a:spcPts val="500"/>
              </a:spcAft>
              <a:defRPr sz="2200" b="1">
                <a:solidFill>
                  <a:srgbClr val="0C2342"/>
                </a:solidFill>
                <a:latin typeface="Aptos"/>
              </a:defRPr>
            </a:pPr>
            <a:r>
              <a:rPr dirty="0"/>
              <a:t>(a) daily temperatures, </a:t>
            </a:r>
            <a:endParaRPr lang="en-US" dirty="0"/>
          </a:p>
          <a:p>
            <a:pPr algn="l">
              <a:spcAft>
                <a:spcPts val="500"/>
              </a:spcAft>
              <a:defRPr sz="2200" b="1">
                <a:solidFill>
                  <a:srgbClr val="0C2342"/>
                </a:solidFill>
                <a:latin typeface="Aptos"/>
              </a:defRPr>
            </a:pPr>
            <a:r>
              <a:rPr dirty="0"/>
              <a:t>(b) a 3×3 game board, and </a:t>
            </a:r>
            <a:endParaRPr lang="en-US" dirty="0"/>
          </a:p>
          <a:p>
            <a:pPr algn="l">
              <a:spcAft>
                <a:spcPts val="500"/>
              </a:spcAft>
              <a:defRPr sz="2200" b="1">
                <a:solidFill>
                  <a:srgbClr val="0C2342"/>
                </a:solidFill>
                <a:latin typeface="Aptos"/>
              </a:defRPr>
            </a:pPr>
            <a:r>
              <a:rPr dirty="0"/>
              <a:t>(c) 3D coordinates?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520440"/>
            <a:ext cx="5989320" cy="141732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39" y="3593592"/>
            <a:ext cx="57150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29B6F"/>
                </a:solidFill>
                <a:latin typeface="Aptos"/>
              </a:defRPr>
            </a:pPr>
            <a:r>
              <a:t>HINT /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39" y="3840480"/>
            <a:ext cx="5715000" cy="103327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Match a simple list to 1D, a row-column table to 2D, and layered data to 3D.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417320"/>
            <a:ext cx="3977639" cy="443484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1737360"/>
            <a:ext cx="333756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TEST YOUR UNDERSTANDING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240280"/>
            <a:ext cx="3246120" cy="25603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(a) double[]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(b) int[][]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(c) double[][][]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JAVA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8. Input array values from the keyboard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6858000" cy="3474720"/>
          </a:xfrm>
          <a:prstGeom prst="roundRect">
            <a:avLst/>
          </a:prstGeom>
          <a:solidFill>
            <a:srgbClr val="111F31"/>
          </a:solidFill>
          <a:ln w="12700">
            <a:solidFill>
              <a:srgbClr val="11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27048"/>
            <a:ext cx="658368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28BED2"/>
                </a:solidFill>
                <a:latin typeface="Aptos"/>
              </a:defRPr>
            </a:pPr>
            <a:r>
              <a:t>JAVA  /  CODE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01368"/>
            <a:ext cx="6583680" cy="30175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import java.util.Scanner;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Scanner sc = new Scanner(System.in);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int[] values = new int[5];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for (int i = 0; i &lt; values.length; i++) {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  System.out.print("Enter value: ");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  values[i] = sc.nextInt();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417320"/>
            <a:ext cx="3474720" cy="132588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09560" y="1490472"/>
            <a:ext cx="32004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F6FBE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1737360"/>
            <a:ext cx="3200400" cy="9418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The loop asks for five integers and stores each input at its current index.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971800"/>
            <a:ext cx="3474720" cy="132588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09560" y="3044952"/>
            <a:ext cx="32004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29B6F"/>
                </a:solidFill>
                <a:latin typeface="Aptos"/>
              </a:defRPr>
            </a:pPr>
            <a:r>
              <a:t>REMEMBER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291840"/>
            <a:ext cx="3200400" cy="9418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Import Scanner and create its object before reading keyboard input.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PRACTICE AFTER THIS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Practice 8 — Read user input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66294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603504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YOUR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5989320" cy="10515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0C2342"/>
                </a:solidFill>
                <a:latin typeface="Aptos"/>
              </a:defRPr>
            </a:pPr>
            <a:r>
              <a:t>Write a program to read 5 integers and then print them in the same order.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520440"/>
            <a:ext cx="5989320" cy="141732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39" y="3593592"/>
            <a:ext cx="57150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29B6F"/>
                </a:solidFill>
                <a:latin typeface="Aptos"/>
              </a:defRPr>
            </a:pPr>
            <a:r>
              <a:t>HINT /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39" y="3840480"/>
            <a:ext cx="5715000" cy="103327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Use one loop for input and a second loop for output.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417320"/>
            <a:ext cx="3977639" cy="443484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1737360"/>
            <a:ext cx="333756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TEST YOUR UNDERSTANDING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240280"/>
            <a:ext cx="3246120" cy="25603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Input example: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5 10 15 20 25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endParaRPr/>
          </a:p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Output: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5 10 15 20 25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JAVA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9. Example — Find the sum of array elements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6812280" cy="3383280"/>
          </a:xfrm>
          <a:prstGeom prst="roundRect">
            <a:avLst/>
          </a:prstGeom>
          <a:solidFill>
            <a:srgbClr val="111F31"/>
          </a:solidFill>
          <a:ln w="12700">
            <a:solidFill>
              <a:srgbClr val="11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27048"/>
            <a:ext cx="653796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28BED2"/>
                </a:solidFill>
                <a:latin typeface="Aptos"/>
              </a:defRPr>
            </a:pPr>
            <a:r>
              <a:t>JAVA  /  CODE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01368"/>
            <a:ext cx="6537960" cy="29260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int[] numbers = {10, 20, 30, 40, 50};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int sum = 0;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for (int n : numbers) {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    sum += n;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System.out.println("Sum = " + sum);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417320"/>
            <a:ext cx="3520440" cy="128016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0" y="1490472"/>
            <a:ext cx="324612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F6FBE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737360"/>
            <a:ext cx="3246120" cy="89611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The enhanced for loop visits each element and adds it to sum.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2926080"/>
            <a:ext cx="3520440" cy="128016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2999232"/>
            <a:ext cx="324612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29B6F"/>
                </a:solidFill>
                <a:latin typeface="Aptos"/>
              </a:defRPr>
            </a:pPr>
            <a:r>
              <a:t>DRY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246120"/>
            <a:ext cx="3246120" cy="89611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0 → 10 → 30 → 60 → 100 → 150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66360"/>
            <a:ext cx="5120640" cy="4572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0C2342"/>
                </a:solidFill>
                <a:latin typeface="Aptos"/>
              </a:defRPr>
            </a:pPr>
            <a:r>
              <a:t>Expected output:  Sum = 150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PRACTICE AFTER THIS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Practice 9 — Calculate a sum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66294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603504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YOUR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5989320" cy="10515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0C2342"/>
                </a:solidFill>
                <a:latin typeface="Aptos"/>
              </a:defRPr>
            </a:pPr>
            <a:r>
              <a:t>Find the sum of {2, 4, 6, 8, 10} using a Java program.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520440"/>
            <a:ext cx="5989320" cy="141732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39" y="3593592"/>
            <a:ext cx="57150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29B6F"/>
                </a:solidFill>
                <a:latin typeface="Aptos"/>
              </a:defRPr>
            </a:pPr>
            <a:r>
              <a:t>HINT /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39" y="3840480"/>
            <a:ext cx="5715000" cy="103327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Initialize sum to 0 and add each element. Predict the output before running.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417320"/>
            <a:ext cx="3977639" cy="443484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1737360"/>
            <a:ext cx="333756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TEST YOUR UNDERSTANDING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240280"/>
            <a:ext cx="3246120" cy="25603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Expected output: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Sum = 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JAVA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10. Example — Find the maximum element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6858000" cy="3429000"/>
          </a:xfrm>
          <a:prstGeom prst="roundRect">
            <a:avLst/>
          </a:prstGeom>
          <a:solidFill>
            <a:srgbClr val="111F31"/>
          </a:solidFill>
          <a:ln w="12700">
            <a:solidFill>
              <a:srgbClr val="11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27048"/>
            <a:ext cx="658368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28BED2"/>
                </a:solidFill>
                <a:latin typeface="Aptos"/>
              </a:defRPr>
            </a:pPr>
            <a:r>
              <a:t>JAVA  /  CODE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01368"/>
            <a:ext cx="6583680" cy="29718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int[] numbers = {12, 45, 7, 89, 23};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int max = numbers[0];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for (int i = 1; i &lt; numbers.length; i++) {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  if (numbers[i] &gt; max) {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      max = numbers[i];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System.out.println("Maximum = " + max);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417320"/>
            <a:ext cx="3474720" cy="123444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09560" y="1490472"/>
            <a:ext cx="32004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F6FBE"/>
                </a:solidFill>
                <a:latin typeface="Aptos"/>
              </a:defRPr>
            </a:pPr>
            <a:r>
              <a:t>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1737360"/>
            <a:ext cx="3200400" cy="85039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Start by assuming the first element is the maximum.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880360"/>
            <a:ext cx="3474720" cy="123444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09560" y="2953512"/>
            <a:ext cx="32004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29B6F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200400"/>
            <a:ext cx="3200400" cy="85039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Whenever a larger value appears, update max.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66360"/>
            <a:ext cx="5120640" cy="4572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0C2342"/>
                </a:solidFill>
                <a:latin typeface="Aptos"/>
              </a:defRPr>
            </a:pPr>
            <a:r>
              <a:t>Expected output:  Maximum = 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PRACTICE AFTER THIS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Practice 10 — Find the maximum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66294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603504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YOUR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5989320" cy="10515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0C2342"/>
                </a:solidFill>
                <a:latin typeface="Aptos"/>
              </a:defRPr>
            </a:pPr>
            <a:r>
              <a:t>Find the largest value in {15, 8, 42, 19, 31}.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520440"/>
            <a:ext cx="5989320" cy="141732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39" y="3593592"/>
            <a:ext cx="57150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29B6F"/>
                </a:solidFill>
                <a:latin typeface="Aptos"/>
              </a:defRPr>
            </a:pPr>
            <a:r>
              <a:t>HINT /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39" y="3840480"/>
            <a:ext cx="5715000" cy="103327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Assume the first element is max, then compare each remaining element.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417320"/>
            <a:ext cx="3977639" cy="443484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1737360"/>
            <a:ext cx="333756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TEST YOUR UNDERSTANDING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240280"/>
            <a:ext cx="3246120" cy="25603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Expected output: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Maximum = 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JAVA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11. Example — Reverse an array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6858000" cy="3566160"/>
          </a:xfrm>
          <a:prstGeom prst="roundRect">
            <a:avLst/>
          </a:prstGeom>
          <a:solidFill>
            <a:srgbClr val="111F31"/>
          </a:solidFill>
          <a:ln w="12700">
            <a:solidFill>
              <a:srgbClr val="11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27048"/>
            <a:ext cx="658368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28BED2"/>
                </a:solidFill>
                <a:latin typeface="Aptos"/>
              </a:defRPr>
            </a:pPr>
            <a:r>
              <a:t>JAVA  /  CODE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01368"/>
            <a:ext cx="6583680" cy="31089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int[] a = {1, 2, 3, 4, 5};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int left = 0, right = a.length - 1;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while (left &lt; right) {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  int temp = a[left];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  a[left] = a[right];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  a[right] = temp;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  left++;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  right--;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417320"/>
            <a:ext cx="3474720" cy="123444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09560" y="1490472"/>
            <a:ext cx="32004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F6FBE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1737360"/>
            <a:ext cx="3200400" cy="85039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Swap the first and last elements, then move inward.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880360"/>
            <a:ext cx="3474720" cy="123444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09560" y="2953512"/>
            <a:ext cx="32004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29B6F"/>
                </a:solidFill>
                <a:latin typeface="Aptos"/>
              </a:defRPr>
            </a:pPr>
            <a:r>
              <a:t>BEFORE → 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200400"/>
            <a:ext cx="3200400" cy="85039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1 2 3 4 5  →  5 4 3 2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57800"/>
            <a:ext cx="5943600" cy="4572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0C2342"/>
                </a:solidFill>
                <a:latin typeface="Aptos"/>
              </a:defRPr>
            </a:pPr>
            <a:r>
              <a:t>After the loop, print each element to verify the result.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PRACTICE AFTER THIS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Practice 11 — Reverse values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66294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603504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YOUR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5989320" cy="10515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0C2342"/>
                </a:solidFill>
                <a:latin typeface="Aptos"/>
              </a:defRPr>
            </a:pPr>
            <a:r>
              <a:t>Reverse {10, 20, 30, 40} and display the result.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520440"/>
            <a:ext cx="5989320" cy="141732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39" y="3593592"/>
            <a:ext cx="57150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29B6F"/>
                </a:solidFill>
                <a:latin typeface="Aptos"/>
              </a:defRPr>
            </a:pPr>
            <a:r>
              <a:t>HINT /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39" y="3840480"/>
            <a:ext cx="5715000" cy="103327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Use two indexes: one at the start and one at the end. Swap while left &lt; right.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417320"/>
            <a:ext cx="3977639" cy="443484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1737360"/>
            <a:ext cx="333756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TEST YOUR UNDERSTANDING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240280"/>
            <a:ext cx="3246120" cy="25603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Expected output: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40 30 20 10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JAVA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12. Common array mistakes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107442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90472"/>
            <a:ext cx="242316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CD4B4B"/>
                </a:solidFill>
                <a:latin typeface="Aptos"/>
              </a:defRPr>
            </a:pPr>
            <a:r>
              <a:t>Index starts at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481328"/>
            <a:ext cx="7498079" cy="34747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First element is array[0], not array[1].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12848"/>
            <a:ext cx="107442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242316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CD4B4B"/>
                </a:solidFill>
                <a:latin typeface="Aptos"/>
              </a:defRPr>
            </a:pPr>
            <a:r>
              <a:t>Index out of range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322576"/>
            <a:ext cx="7498079" cy="34747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For length 5, valid indexes are 0–4.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054096"/>
            <a:ext cx="107442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172968"/>
            <a:ext cx="242316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CD4B4B"/>
                </a:solidFill>
                <a:latin typeface="Aptos"/>
              </a:defRPr>
            </a:pPr>
            <a:r>
              <a:t>Wrong length usage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163824"/>
            <a:ext cx="7498079" cy="34747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Use array.length (no parentheses), not array.length().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895344"/>
            <a:ext cx="107442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014215"/>
            <a:ext cx="242316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CD4B4B"/>
                </a:solidFill>
                <a:latin typeface="Aptos"/>
              </a:defRPr>
            </a:pPr>
            <a:r>
              <a:t>Uninitialized reference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4005072"/>
            <a:ext cx="7498079" cy="34747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Declare and create the array before accessing elements.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736592"/>
            <a:ext cx="107442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855464"/>
            <a:ext cx="242316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CD4B4B"/>
                </a:solidFill>
                <a:latin typeface="Aptos"/>
              </a:defRPr>
            </a:pPr>
            <a:r>
              <a:t>Mixed element types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4846320"/>
            <a:ext cx="7498079" cy="34747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A primitive int[] stores integers, not strings.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PRACTICE AFTER THIS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Practice 12 — Debug the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66294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603504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YOUR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5989320" cy="10515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0C2342"/>
                </a:solidFill>
                <a:latin typeface="Aptos"/>
              </a:defRPr>
            </a:pPr>
            <a:r>
              <a:t>Find the error: int[] a = {2, 4, 6}; System.out.println(a[3]);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520440"/>
            <a:ext cx="5989320" cy="141732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39" y="3593592"/>
            <a:ext cx="57150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29B6F"/>
                </a:solidFill>
                <a:latin typeface="Aptos"/>
              </a:defRPr>
            </a:pPr>
            <a:r>
              <a:t>HINT /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39" y="3840480"/>
            <a:ext cx="5715000" cy="103327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There are three elements, so the last valid index is 2.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417320"/>
            <a:ext cx="3977639" cy="443484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1737360"/>
            <a:ext cx="333756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TEST YOUR UNDERSTANDING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240280"/>
            <a:ext cx="3246120" cy="25603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Correct examples: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a[0] // 2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a[1] // 4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a[2] //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7772400" cy="2743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8BED2"/>
                </a:solidFill>
                <a:latin typeface="Aptos"/>
              </a:defRPr>
            </a:pPr>
            <a: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5943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11480" cy="3657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28BED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828800"/>
            <a:ext cx="9784080" cy="4114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An array stores a fixed number of values of one declared type.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42032"/>
            <a:ext cx="411480" cy="3657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28BED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542032"/>
            <a:ext cx="9784080" cy="4114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Indexes start at 0; the final index is length - 1.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55264"/>
            <a:ext cx="411480" cy="3657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28BED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255264"/>
            <a:ext cx="9784080" cy="4114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Use [] to declare, new to create, and braces to initialize.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968496"/>
            <a:ext cx="411480" cy="3657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28BED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968496"/>
            <a:ext cx="9784080" cy="4114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Use loops to read, display, search, and calculate with arrays.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681728"/>
            <a:ext cx="411480" cy="3657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28BED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681728"/>
            <a:ext cx="9784080" cy="4114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Practice with sums, maximums, counting, and reversing.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28BED2"/>
                </a:solidFill>
                <a:latin typeface="Aptos"/>
              </a:defRPr>
            </a:pPr>
            <a:r>
              <a:t>Final lab: Read 10 integers, display them, find sum, maximum, and count even values.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2194</Words>
  <Application>Microsoft Office PowerPoint</Application>
  <PresentationFormat>Widescreen</PresentationFormat>
  <Paragraphs>443</Paragraphs>
  <Slides>27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pravin gaikwad</cp:lastModifiedBy>
  <cp:revision>7</cp:revision>
  <dcterms:created xsi:type="dcterms:W3CDTF">2013-01-27T09:14:16Z</dcterms:created>
  <dcterms:modified xsi:type="dcterms:W3CDTF">2026-10-23T09:11:49Z</dcterms:modified>
  <cp:category/>
</cp:coreProperties>
</file>