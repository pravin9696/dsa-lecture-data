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7157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731520"/>
            <a:ext cx="4206240" cy="4206240"/>
          </a:xfrm>
          <a:prstGeom prst="ellipse">
            <a:avLst/>
          </a:prstGeom>
          <a:solidFill>
            <a:srgbClr val="1B7F79">
              <a:alpha val="45000"/>
            </a:srgbClr>
          </a:solidFill>
          <a:ln w="12700">
            <a:solidFill>
              <a:srgbClr val="1B7F79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2560320" cy="2560320"/>
          </a:xfrm>
          <a:prstGeom prst="ellipse">
            <a:avLst/>
          </a:prstGeom>
          <a:solidFill>
            <a:srgbClr val="F2A541">
              <a:alpha val="80000"/>
            </a:srgbClr>
          </a:solidFill>
          <a:ln w="12700">
            <a:solidFill>
              <a:srgbClr val="F2A541">
                <a:alpha val="8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&amp; Algorithms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1: Arrays, Sparse Matrices and Strings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Pravin Gaikwad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DSA Sits Behind Everyday Apps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table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231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a name finds a contact almost instantly because keys map straight to records.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2900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Netflix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69164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29000" y="178308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290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4231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and viewers are nodes; links between them drive "you may also like" suggestions.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118872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21792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Swiggy / Zomato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69164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178308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 &amp; tries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4231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"pizza" narrows millions of listings quickly using ordered search structures.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structures give speed, scale and responsiveness; this is also why interviews test them.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 vs Algorithm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planned way of arranging and storing data so it can be reached and changed efficiently. Like a tidy school bag, finding the right book takes seconds. The choice of structure often decides whether a program runs in seconds or hours.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92040" y="1298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9164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finite, ordered set of instructions that solves a problem. Cooking instant noodles is one: boil water, add noodles and masala, stir, serve. A good algorithm has clear steps, ends, and gives the correct result.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Analysing Algorithms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measures how much time and memory an algorithm needs, so we can compare options and pick the best.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847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case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time taken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7373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1847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case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40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Typical, expected time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7373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1847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Worst case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240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time taken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Asymptotic notation expresses growth of running time: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Big-O: upper bound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46120" y="370332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4612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Big-Omega: lower bound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35040" y="370332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Theta: tight bound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Data Structures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single-value types: int, float, char, boolean. Think single Lego bricks.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92040" y="1298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Non-primitive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916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primitives to hold many values. Think assembled Lego models.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77640" cy="1691640"/>
          </a:xfrm>
          <a:prstGeom prst="roundRect">
            <a:avLst>
              <a:gd name="adj" fmla="val 6486"/>
            </a:avLst>
          </a:prstGeom>
          <a:solidFill>
            <a:srgbClr val="DCEBE8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2852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461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in sequence: arrays, linked lists, stacks (LIFO), queues (FIFO), strings.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2743200"/>
            <a:ext cx="3977640" cy="1691640"/>
          </a:xfrm>
          <a:prstGeom prst="roundRect">
            <a:avLst>
              <a:gd name="adj" fmla="val 6486"/>
            </a:avLst>
          </a:prstGeom>
          <a:solidFill>
            <a:srgbClr val="DCEBE8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92040" y="2852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Non-linear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2461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or networked: trees, graphs, hash tables.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Arrays: The Core Idea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same-type elements in contiguous memory, each reached by its index.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801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Homogeneous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slot holds one data type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6916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1801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Contiguous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94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sit side by side in RAM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1801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Zero-based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194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indices run 0 to N-1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32186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access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element reached in O(1)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46120" y="31089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429000" y="32186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vs dynamic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C++/Java arrays fixed; Python lists grow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35040" y="31089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217920" y="32186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them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 and one loop replace many variables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vs Dynamic Arrays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(fixed size)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is set at creation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Oversizing wastes memory; undersizing loses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 when item count is unknown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int a[10] in C++, new int[10] in Java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77640" cy="3108960"/>
          </a:xfrm>
          <a:prstGeom prst="roundRect">
            <a:avLst>
              <a:gd name="adj" fmla="val 3529"/>
            </a:avLst>
          </a:prstGeom>
          <a:solidFill>
            <a:srgbClr val="DCEBE8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92040" y="1298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(resizable)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9164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830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or shrinks while running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handled automatically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unknown item counts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vector, ArrayList, Python list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One, Two and Three Dimensions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1D: a[3]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1417320"/>
            <a:ext cx="502920" cy="50292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63040" y="1417320"/>
            <a:ext cx="502920" cy="50292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65960" y="1417320"/>
            <a:ext cx="502920" cy="50292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59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marks, temperatures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2D: m[1][2]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66160" y="1417320"/>
            <a:ext cx="502920" cy="45720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69080" y="1417320"/>
            <a:ext cx="502920" cy="45720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69080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1417320"/>
            <a:ext cx="502920" cy="45720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74920" y="1417320"/>
            <a:ext cx="502920" cy="45720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74920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566160" y="1874520"/>
            <a:ext cx="502920" cy="457200"/>
          </a:xfrm>
          <a:prstGeom prst="rect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66160" y="1874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069080" y="1874520"/>
            <a:ext cx="502920" cy="457200"/>
          </a:xfrm>
          <a:prstGeom prst="rect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69080" y="1874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0" y="1874520"/>
            <a:ext cx="502920" cy="457200"/>
          </a:xfrm>
          <a:prstGeom prst="rect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0" y="1874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74920" y="1874520"/>
            <a:ext cx="502920" cy="457200"/>
          </a:xfrm>
          <a:prstGeom prst="rect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74920" y="1874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566160" y="2331720"/>
            <a:ext cx="502920" cy="45720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66160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069080" y="2331720"/>
            <a:ext cx="502920" cy="45720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069080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0" y="2331720"/>
            <a:ext cx="502920" cy="45720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0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74920" y="2331720"/>
            <a:ext cx="502920" cy="45720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074920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356616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tables, images, boards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0" y="1097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3D: c[1][0][2]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132320" y="1828800"/>
            <a:ext cx="1280160" cy="731520"/>
          </a:xfrm>
          <a:prstGeom prst="rect">
            <a:avLst/>
          </a:prstGeom>
          <a:solidFill>
            <a:srgbClr val="1B7F79">
              <a:alpha val="6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0" y="1645920"/>
            <a:ext cx="1280160" cy="731520"/>
          </a:xfrm>
          <a:prstGeom prst="rect">
            <a:avLst/>
          </a:prstGeom>
          <a:solidFill>
            <a:srgbClr val="1B7F79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0" y="1463040"/>
            <a:ext cx="1280160" cy="731520"/>
          </a:xfrm>
          <a:prstGeom prst="rect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83680" y="1463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58368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colour video, 3D maps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dimension adds one more index: 1D is a line, 2D a table, 3D a stack of tables.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Layout and Address Maths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marks[5], base address 1000, 4 bytes per int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554480" cy="64008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94560" y="1463040"/>
            <a:ext cx="1554480" cy="64008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49040" y="1463040"/>
            <a:ext cx="1554480" cy="64008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303520" y="1463040"/>
            <a:ext cx="1554480" cy="64008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0" y="1463040"/>
            <a:ext cx="1554480" cy="64008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1008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marks[0]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marks[1]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marks[2]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marks[3]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marks[4]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3977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0080" y="30358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formula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4290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Address(A[i]) = Base + i × Size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09160" y="2926080"/>
            <a:ext cx="3977640" cy="1463040"/>
          </a:xfrm>
          <a:prstGeom prst="roundRect">
            <a:avLst>
              <a:gd name="adj" fmla="val 7500"/>
            </a:avLst>
          </a:prstGeom>
          <a:solidFill>
            <a:srgbClr val="DCEBE8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892040" y="30358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34290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marks[3] = 1000 + 3 × 4 = 1012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Operations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07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234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 </a:t>
            </a: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 element by index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3977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92040" y="1207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600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37160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1234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 </a:t>
            </a: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 a value in place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3977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2350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743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251460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2377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  </a:t>
            </a: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the end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09160" y="2240280"/>
            <a:ext cx="3977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892040" y="2350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2743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251460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2377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 </a:t>
            </a: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a chosen position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3977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0080" y="3493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3886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365760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3520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 </a:t>
            </a: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element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709160" y="3383280"/>
            <a:ext cx="3977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4892040" y="3493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4892040" y="3886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892040" y="365760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920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0" y="3520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Iterate  </a:t>
            </a: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every element in turn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and Limits of Arrays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108960"/>
          </a:xfrm>
          <a:prstGeom prst="roundRect">
            <a:avLst>
              <a:gd name="adj" fmla="val 3529"/>
            </a:avLst>
          </a:prstGeom>
          <a:solidFill>
            <a:srgbClr val="DCEBE8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Constant-time access by index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single-block memory, no link overhead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many data types, even objects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virtually all hardware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776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92040" y="1298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9164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830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 means copying into a new array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blocks may fail to allocate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and delete shift later elements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Arrays Get Used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lookup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Index-based access in O(1)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search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91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on sorted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691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work and image processing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2852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blocks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46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Underlie stacks and queues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2743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429000" y="2852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programming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246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sub-problem results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2743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17920" y="2852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&amp; games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246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Pixels, audio samples, game boards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 Matrices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sparse matrix is mostly zeros, so storing every cell wastes space and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097280"/>
            <a:ext cx="731520" cy="54864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097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097280"/>
            <a:ext cx="731520" cy="54864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1097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949440" y="1097280"/>
            <a:ext cx="731520" cy="54864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1097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80960" y="1097280"/>
            <a:ext cx="731520" cy="54864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0" y="1097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0" y="1645920"/>
            <a:ext cx="731520" cy="54864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731520" cy="54864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949440" y="1645920"/>
            <a:ext cx="731520" cy="54864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80960" y="1645920"/>
            <a:ext cx="731520" cy="54864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0" y="2194560"/>
            <a:ext cx="731520" cy="54864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194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17920" y="2194560"/>
            <a:ext cx="731520" cy="54864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2194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949440" y="2194560"/>
            <a:ext cx="731520" cy="54864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2194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80960" y="2194560"/>
            <a:ext cx="731520" cy="54864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0" y="2194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0" y="2743200"/>
            <a:ext cx="731520" cy="54864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0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217920" y="2743200"/>
            <a:ext cx="731520" cy="54864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0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949440" y="2743200"/>
            <a:ext cx="731520" cy="54864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49440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680960" y="2743200"/>
            <a:ext cx="731520" cy="54864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80960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949440" y="1097280"/>
            <a:ext cx="731520" cy="548640"/>
          </a:xfrm>
          <a:prstGeom prst="rect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49440" y="1097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680960" y="1645920"/>
            <a:ext cx="731520" cy="548640"/>
          </a:xfrm>
          <a:prstGeom prst="rect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8096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486400" y="2194560"/>
            <a:ext cx="731520" cy="548640"/>
          </a:xfrm>
          <a:prstGeom prst="rect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0" y="2194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0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of 16 cells carry data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201168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640080" y="2121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memory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251460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non-zero entries.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017520" y="201168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DCEBE8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3200400" y="2121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work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3200400" y="251460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non-zero items alone.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Sparse Matrices Help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computing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linear systems, finite element analysis, simulations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9164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vectors, recommenders, graph neural networks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Graphics &amp; imaging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69164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reconstruction, GIS data, physics and animation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Storing a Sparse Matrix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Triplet array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three columns: row, column, value for each non-zero item.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1097280" cy="365760"/>
          </a:xfrm>
          <a:prstGeom prst="rect">
            <a:avLst/>
          </a:prstGeom>
          <a:solidFill>
            <a:srgbClr val="0B3C4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468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37360" y="2468880"/>
            <a:ext cx="1097280" cy="365760"/>
          </a:xfrm>
          <a:prstGeom prst="rect">
            <a:avLst/>
          </a:prstGeom>
          <a:solidFill>
            <a:srgbClr val="0B3C4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37360" y="2468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640" y="2468880"/>
            <a:ext cx="1097280" cy="365760"/>
          </a:xfrm>
          <a:prstGeom prst="rect">
            <a:avLst/>
          </a:prstGeom>
          <a:solidFill>
            <a:srgbClr val="0B3C4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2468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1097280" cy="365760"/>
          </a:xfrm>
          <a:prstGeom prst="rect">
            <a:avLst/>
          </a:prstGeom>
          <a:solidFill>
            <a:srgbClr val="EEF5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737360" y="2834640"/>
            <a:ext cx="1097280" cy="365760"/>
          </a:xfrm>
          <a:prstGeom prst="rect">
            <a:avLst/>
          </a:prstGeom>
          <a:solidFill>
            <a:srgbClr val="EEF5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3736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34640" y="2834640"/>
            <a:ext cx="1097280" cy="365760"/>
          </a:xfrm>
          <a:prstGeom prst="rect">
            <a:avLst/>
          </a:prstGeom>
          <a:solidFill>
            <a:srgbClr val="EEF5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3464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200400"/>
            <a:ext cx="1097280" cy="36576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737360" y="3200400"/>
            <a:ext cx="1097280" cy="36576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73736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834640" y="3200400"/>
            <a:ext cx="1097280" cy="365760"/>
          </a:xfrm>
          <a:prstGeom prst="rect">
            <a:avLst/>
          </a:prstGeom>
          <a:solidFill>
            <a:srgbClr val="DCEB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3464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3566160"/>
            <a:ext cx="1097280" cy="365760"/>
          </a:xfrm>
          <a:prstGeom prst="rect">
            <a:avLst/>
          </a:prstGeom>
          <a:solidFill>
            <a:srgbClr val="EEF5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566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737360" y="3566160"/>
            <a:ext cx="1097280" cy="365760"/>
          </a:xfrm>
          <a:prstGeom prst="rect">
            <a:avLst/>
          </a:prstGeom>
          <a:solidFill>
            <a:srgbClr val="EEF5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737360" y="3566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834640" y="3566160"/>
            <a:ext cx="1097280" cy="365760"/>
          </a:xfrm>
          <a:prstGeom prst="rect">
            <a:avLst/>
          </a:prstGeom>
          <a:solidFill>
            <a:srgbClr val="EEF5F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34640" y="3566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09160" y="1188720"/>
            <a:ext cx="3977640" cy="3108960"/>
          </a:xfrm>
          <a:prstGeom prst="roundRect">
            <a:avLst>
              <a:gd name="adj" fmla="val 3529"/>
            </a:avLst>
          </a:prstGeom>
          <a:solidFill>
            <a:srgbClr val="DCEBE8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892040" y="1298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4892040" y="169164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892040" y="17830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per non-zero element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row, column, value, next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or delete without shifting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used only as needed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 as Character Arrays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</a:rPr>
              <a:t>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is a 1D char array ended by the null character; n letters need n + 1 slots.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63040" y="1737360"/>
            <a:ext cx="1005840" cy="64008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1737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68880" y="1737360"/>
            <a:ext cx="1005840" cy="64008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0" y="1737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0" y="1737360"/>
            <a:ext cx="1005840" cy="64008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737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80560" y="1737360"/>
            <a:ext cx="1005840" cy="64008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1737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0" y="1737360"/>
            <a:ext cx="1005840" cy="64008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1737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92240" y="1737360"/>
            <a:ext cx="1005840" cy="640080"/>
          </a:xfrm>
          <a:prstGeom prst="rect">
            <a:avLst/>
          </a:prstGeom>
          <a:solidFill>
            <a:srgbClr val="1B7F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1737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\0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2834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until \0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46120" y="283464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83280" y="2834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chars, add \0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35040" y="283464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2834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one to another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from both ends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46120" y="370332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83280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char by char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035040" y="370332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2200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len chars from pos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Problems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</a:rPr>
              <a:t>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arrays (Java)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4754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print elements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order, sum, copy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duplicates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maximum and minimum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ascending or descending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0" y="1188720"/>
            <a:ext cx="2834640" cy="3108960"/>
          </a:xfrm>
          <a:prstGeom prst="roundRect">
            <a:avLst>
              <a:gd name="adj" fmla="val 3871"/>
            </a:avLst>
          </a:prstGeom>
          <a:solidFill>
            <a:srgbClr val="DCEBE8"/>
          </a:solidFill>
          <a:ln w="9525">
            <a:solidFill>
              <a:srgbClr val="D5E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035040" y="1298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arrays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691640"/>
            <a:ext cx="2468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78308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addition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FC0"/>
                </a:solidFill>
              </a:rPr>
              <a:t>18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structure first; it sets program speed.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828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give O(1) access but costly insertion and deletion.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= Base + index × size explains that speed.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108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matrices save space by storing non-zeros only.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749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char arrays closed by a null character.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FC0"/>
                </a:solidFill>
              </a:rPr>
              <a:t>19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Books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Goodrich, M.T., Tamassia, R. and Goldwasser, M.H. Data Structures and Algorithms in Java. Wiley.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Malhotra, S. and Malhotra, S. Data Structures and Algorithms. (as prescribed in the syllabus)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Tremblay, J.P. and Sorenson, P.G. An Introduction to Data Structures with Applications. McGraw-Hill.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Books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Lipschutz, S. Data Structures, Schaum's Outline Series. McGraw-Hill.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Samanta, D. Classic Data Structures. PHI Learning.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Horowitz, E. and Sahni, S. Fundamentals of Data Structures. Universities Press.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Hanumanthappa, M. Data Structures (as prescribed in the syllabus).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Gopal, A. Magnifying Data Structures. PHI Learning.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1274</Words>
  <Application>Microsoft Office PowerPoint</Application>
  <PresentationFormat>On-screen Show (16:9)</PresentationFormat>
  <Paragraphs>302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</cp:revision>
  <dcterms:created xsi:type="dcterms:W3CDTF">2026-10-28T06:38:27Z</dcterms:created>
  <dcterms:modified xsi:type="dcterms:W3CDTF">2026-10-28T08:01:06Z</dcterms:modified>
</cp:coreProperties>
</file>